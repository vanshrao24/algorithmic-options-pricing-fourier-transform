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Call Price vs Strike (S0=100, T=0.5, σ=0.20)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Carr-Madan FFT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70</c:v>
                  </c:pt>
                  <c:pt idx="1">
                    <c:v>80</c:v>
                  </c:pt>
                  <c:pt idx="2">
                    <c:v>90</c:v>
                  </c:pt>
                  <c:pt idx="3">
                    <c:v>100</c:v>
                  </c:pt>
                  <c:pt idx="4">
                    <c:v>110</c:v>
                  </c:pt>
                  <c:pt idx="5">
                    <c:v>120</c:v>
                  </c:pt>
                  <c:pt idx="6">
                    <c:v>130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30.9</c:v>
                </c:pt>
                <c:pt idx="1">
                  <c:v>21.3</c:v>
                </c:pt>
                <c:pt idx="2">
                  <c:v>12.6</c:v>
                </c:pt>
                <c:pt idx="3">
                  <c:v>6.89</c:v>
                </c:pt>
                <c:pt idx="4">
                  <c:v>3.13</c:v>
                </c:pt>
                <c:pt idx="5">
                  <c:v>1.19</c:v>
                </c:pt>
                <c:pt idx="6">
                  <c:v>0.39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BSM Closed-Form</c:v>
                </c:pt>
              </c:strCache>
            </c:strRef>
          </c:tx>
          <c:spPr>
            <a:solidFill>
              <a:srgbClr val="F2A93B"/>
            </a:solidFill>
            <a:ln w="3175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70</c:v>
                  </c:pt>
                  <c:pt idx="1">
                    <c:v>80</c:v>
                  </c:pt>
                  <c:pt idx="2">
                    <c:v>90</c:v>
                  </c:pt>
                  <c:pt idx="3">
                    <c:v>100</c:v>
                  </c:pt>
                  <c:pt idx="4">
                    <c:v>110</c:v>
                  </c:pt>
                  <c:pt idx="5">
                    <c:v>120</c:v>
                  </c:pt>
                  <c:pt idx="6">
                    <c:v>130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30.9</c:v>
                </c:pt>
                <c:pt idx="1">
                  <c:v>21.3</c:v>
                </c:pt>
                <c:pt idx="2">
                  <c:v>12.6</c:v>
                </c:pt>
                <c:pt idx="3">
                  <c:v>6.89</c:v>
                </c:pt>
                <c:pt idx="4">
                  <c:v>3.13</c:v>
                </c:pt>
                <c:pt idx="5">
                  <c:v>1.19</c:v>
                </c:pt>
                <c:pt idx="6">
                  <c:v>0.39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5F7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A4A9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</a:rPr>
              <a:t>STATMATICS · IIT KANPUR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Options Pricing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</a:rPr>
              <a:t>Fourier Transform &amp; Stochastic Simulation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Black-Scholes-Merton  ·  Carr-Madan FFT  ·  Monte-Carlo Risk Analysis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9C7"/>
                </a:solidFill>
              </a:rPr>
              <a:t>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Intended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02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7785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490472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</a:rPr>
              <a:t>Understand risk-neutral valuation, Brownian Motion, and Ito's Lemma as the foundation of derivative pricing.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62432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807208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" y="298551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69748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</a:rPr>
              <a:t>Derive and implement the Black-Scholes-Merton model in closed form, with the full set of risk-neutral Greeks.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83133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68680" y="4014216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419252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3904488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</a:rPr>
              <a:t>Apply the Carr-Madan Fast Fourier Transform to price an entire strike chain in one pass, validated against BSM.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503834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68680" y="5221224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539953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83080" y="5111496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</a:rPr>
              <a:t>Build Monte-Carlo simulations to independently price options and quantify downside risk via VaR / CVaR.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Stochastic Calculus Background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492240" cy="475488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4506B"/>
                </a:solidFill>
              </a:rPr>
              <a:t>Assets follow a Geometric Brownian Motion under the risk-neutral measure: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dSt = (r − q) St dt + σ St dWt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4506B"/>
                </a:solidFill>
              </a:rPr>
              <a:t>Ito's Lemma applied to ln(St) removes the state-dependent diffusion term, giving the exact solution: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 = S0 · exp[(r − q − ½σ²)T + σ√T·Z],  Z ~ N(0,1)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</a:rPr>
              <a:t>This exact, distribution-level solution is what makes BOTH the closed-form BSM price and an unbiased (no-discretisation-bias) Monte-Carlo simulation possible.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2011680"/>
            <a:ext cx="1463040" cy="14630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1350" y="2392070"/>
            <a:ext cx="702259" cy="7022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0" y="37490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Randomness in,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prices out.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Black-Scholes-Merton: Risk-Neutral 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506B"/>
                </a:solidFill>
              </a:rPr>
              <a:t>Discounted risk-neutral expectation of the payoff: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C(S0,K,T) = e⁻ʳᵀ Eᵠ[max(ST − K, 0)]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506B"/>
                </a:solidFill>
              </a:rPr>
              <a:t>Evaluated against the lognormal density of ST, this yields the classical closed form: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45920" y="2926080"/>
            <a:ext cx="886968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301752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S0 e⁻ᵔᵀ N(d1) − K e⁻ʳᵀ N(d2)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352044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d1 = [ln(S0/K) + (r−q+½σ²)T] / σ√T,     d2 = d1 − σ√T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</a:rPr>
              <a:t>The corresponding put price follows directly from put-call parity.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1965960" cy="822960"/>
          </a:xfrm>
          <a:prstGeom prst="roundRect">
            <a:avLst>
              <a:gd name="adj" fmla="val 11111"/>
            </a:avLst>
          </a:prstGeom>
          <a:solidFill>
            <a:srgbClr val="F5F7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0292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Delta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26080" y="5029200"/>
            <a:ext cx="1965960" cy="822960"/>
          </a:xfrm>
          <a:prstGeom prst="roundRect">
            <a:avLst>
              <a:gd name="adj" fmla="val 11111"/>
            </a:avLst>
          </a:prstGeom>
          <a:solidFill>
            <a:srgbClr val="F5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50292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Gamma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0" y="5029200"/>
            <a:ext cx="1965960" cy="822960"/>
          </a:xfrm>
          <a:prstGeom prst="roundRect">
            <a:avLst>
              <a:gd name="adj" fmla="val 11111"/>
            </a:avLst>
          </a:prstGeom>
          <a:solidFill>
            <a:srgbClr val="F5F7F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50292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Vega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32320" y="5029200"/>
            <a:ext cx="1965960" cy="822960"/>
          </a:xfrm>
          <a:prstGeom prst="roundRect">
            <a:avLst>
              <a:gd name="adj" fmla="val 11111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50292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Theta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235440" y="5029200"/>
            <a:ext cx="1965960" cy="822960"/>
          </a:xfrm>
          <a:prstGeom prst="roundRect">
            <a:avLst>
              <a:gd name="adj" fmla="val 11111"/>
            </a:avLst>
          </a:prstGeom>
          <a:solidFill>
            <a:srgbClr val="F5F7FC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50292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Rho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59893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</a:rPr>
              <a:t>Risk-neutral Greeks quantify sensitivity to spot, volatility, time, and rates — used for hedging.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Bring in the Fast Fourier Transform?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4173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Pricing one strike under BSM is instant — but a full option chain of hundreds of strikes means hundreds of repeated evaluations.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7889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Many advanced models (Variance Gamma, Heston, jump-diffusion) have complex, non-analytic densities — but a simple, known characteristic function φT(u).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41605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Carr-Madan (1999) shows the whole strike chain can be priced in a single O(N log N) FFT call instead of N independent evaluations.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The Damping Factor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506B"/>
                </a:solidFill>
              </a:rPr>
              <a:t>The raw call price CT(k) does not vanish as k → −∞, so it is not square-integrable — no standard Fourier transform exists.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506B"/>
                </a:solidFill>
              </a:rPr>
              <a:t>Define a damped call cT(k) = e^(αk) CT(k), α &gt; 0. Its Fourier transform is expressed purely via the characteristic function: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45920" y="2743200"/>
            <a:ext cx="88696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2743200"/>
            <a:ext cx="8869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ψT(v) = e⁻ʳᵀφT(v−(α+1)i) / [α²+α−v² + i(2α+1)v]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506B"/>
                </a:solidFill>
              </a:rPr>
              <a:t>α must satisfy E[S</a:t>
            </a:r>
            <a:pPr indent="0" marL="0">
              <a:buNone/>
            </a:pPr>
            <a:r>
              <a:rPr lang="en-US" sz="1600" baseline="-40000" dirty="0">
                <a:solidFill>
                  <a:srgbClr val="44506B"/>
                </a:solidFill>
              </a:rPr>
              <a:t>T</a:t>
            </a:r>
            <a:pPr indent="0" marL="0">
              <a:buNone/>
            </a:pPr>
            <a:r>
              <a:rPr lang="en-US" sz="1600" dirty="0">
                <a:solidFill>
                  <a:srgbClr val="44506B"/>
                </a:solidFill>
              </a:rPr>
              <a:t>α+1] &lt; ∞, i.e. ψT(0) must be finite — otherwise the denominator vanishes at v=0, and the FFT is inapplicable.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20640" y="466344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2158" y="4924958"/>
            <a:ext cx="482803" cy="482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57607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06B"/>
                </a:solidFill>
              </a:rPr>
              <a:t>Guarantees square-integrability — the mathematical price of admission for the FFT.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Discretisation &amp; Simpson's Rule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506B"/>
                </a:solidFill>
              </a:rPr>
              <a:t>Grid: vj = η(j−1) for the integration step; log-strikes spaced by λ, tied together by the Nyquist-type restriction: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λη = 2π / 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506B"/>
                </a:solidFill>
              </a:rPr>
              <a:t>Simpson's rule weighting is folded into the FFT summation to control integration error without needing an impractically fine η: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375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C(ku) = (e⁻ᵃᵋu/π) Σⱼ e⁻ᵢ(2π/N)(j−1)(u−1) eᵢᵇᵛʲ ψ(vj)(η/3)[3+(−1)ʲ−δⱼ₋₁]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506B"/>
                </a:solidFill>
              </a:rPr>
              <a:t>This is exactly the form of a Discrete Fourier Transform — the entire strike chain drops out of ONE FFT call.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5F7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2120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Discretize integral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52120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5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52120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Apply grid constraint λη=2π/N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52120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52120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Add Simpson weights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41080" y="52120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52120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Run FFT → full strike chain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Validation: FFT vs Closed-Form BSM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06B"/>
                </a:solidFill>
              </a:rPr>
              <a:t>Using the GBM characteristic function in the Carr-Madan engine, the FFT price should reproduce the BSM closed-form price up to numerical precision: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219456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2286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&lt; $10⁻⁴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0" y="2880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06B"/>
                </a:solidFill>
              </a:rPr>
              <a:t>Max. absolute pricing error, FFT vs BSM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0" y="365760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7635240" y="3886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886" y="40288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0" y="3840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Confirms correct damping, discretisation grid, and Simpson's-rule implementation.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498080" y="48463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</a:rPr>
              <a:t>Same machinery generalises directly to Variance Gamma, Heston, and other models — only φT(u) changes.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Monte-Carlo Stochastic Simulation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Exact log-Euler scheme (from Ito's Lemma) — unbiased for any step size, not a first-order approximation: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822960"/>
          </a:xfrm>
          <a:prstGeom prst="roundRect">
            <a:avLst>
              <a:gd name="adj" fmla="val 8889"/>
            </a:avLst>
          </a:prstGeom>
          <a:solidFill>
            <a:srgbClr val="273580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210312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S(t+Δt) = St · exp[(r−q−½σ²)Δt + σ√Δt·Z]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34244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324612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Tens of thousands of independent paths simulate the empirical distribution of ST.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43388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416052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Discounted mean payoff gives the MC price; std. error shrinks as 1/√n_paths.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22960" y="50749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52532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507492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MC price cross-validated live against both BSM and FFT in the dashboard.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Quantifying Downside Risk: VaR &amp; CVaR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06B"/>
                </a:solidFill>
              </a:rPr>
              <a:t>The simulated payoff distribution is converted to a P&amp;L distribution (relative to the BSM entry premium) for a long option position: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Value-at-Risk (VaR)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</a:rPr>
              <a:t>The loss that will not be exceeded with a chosen confidence level (e.g. 95%).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10312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Conditional VaR (CVaR)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651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</a:rPr>
              <a:t>The average loss in the worst tail beyond VaR — captures severity, not just frequency.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74420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43484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918" y="469635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94560" y="4343400"/>
            <a:ext cx="8869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For a long option, loss is capped at the premium paid (payoff ≥ 0) — so VaR and CVaR naturally converge toward the option premium at high confidence. This built-in sanity check confirms the risk engine is behaving correctly.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The Integrated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</a:rPr>
              <a:t>One Streamlit app, three linked pricing engines sharing the same market inputs — spot, strike, maturity, rate, dividend yield, volatility.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37744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984" y="26151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29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BSM &amp; Greeks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9319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06B"/>
                </a:solidFill>
              </a:rPr>
              <a:t>Closed-form price + Delta, Gamma, Vega, Theta, Rho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37744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26151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429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Carr-Madan FFT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39319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06B"/>
                </a:solidFill>
              </a:rPr>
              <a:t>Full strike chain priced in one FFT call, validated vs BSM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21031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8320" y="237744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61518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429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Monte-Carlo Risk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9319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06B"/>
                </a:solidFill>
              </a:rPr>
              <a:t>Simulated price, standard error, VaR / CVaR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</a:rPr>
              <a:t>Built with NumPy · SciPy (scipy.fft, scipy.stats) · Pandas · Streamlit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27358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548079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3258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</a:rPr>
              <a:t>The Carr-Madan FFT reproduces the BSM closed-form price to within numerical precision, validating the entire damping and discretisation pipeline.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27358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259963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3774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</a:rPr>
              <a:t>The damping coefficient α is essential for square-integrability — without it the transform is singular and the FFT cannot be applied.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27358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365119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34290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</a:rPr>
              <a:t>The exact log-Euler GBM scheme gives an unbiased Monte-Carlo estimator that independently corroborates both BSM and FFT prices.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27358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470275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44805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</a:rPr>
              <a:t>VaR / CVaR on the simulated payoff distribution give a practical, model-based view of downside risk beyond point-estimate Greeks.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Algorithmic Options Pricing: Fourier Transform &amp; Stochastic Simulation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9C7"/>
                </a:solidFill>
              </a:rPr>
              <a:t>Statmatics, IIT Kanpur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Options Pricing: Fourier Transform &amp; Stochastic Simulation</dc:title>
  <dc:subject>PptxGenJS Presentation</dc:subject>
  <dc:creator>Statmatics, IIT Kanpur</dc:creator>
  <cp:lastModifiedBy>Statmatics, IIT Kanpur</cp:lastModifiedBy>
  <cp:revision>1</cp:revision>
  <dcterms:created xsi:type="dcterms:W3CDTF">2026-07-04T06:37:57Z</dcterms:created>
  <dcterms:modified xsi:type="dcterms:W3CDTF">2026-07-04T06:37:57Z</dcterms:modified>
</cp:coreProperties>
</file>